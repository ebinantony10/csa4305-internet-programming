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5143500" cx="9144000"/>
  <p:notesSz cx="5143500" cy="9144000"/>
  <p:embeddedFontLst>
    <p:embeddedFont>
      <p:font typeface="Inter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Inter-bold.fntdata"/><Relationship Id="rId10" Type="http://schemas.openxmlformats.org/officeDocument/2006/relationships/font" Target="fonts/Inter-regular.fntdata"/><Relationship Id="rId13" Type="http://schemas.openxmlformats.org/officeDocument/2006/relationships/font" Target="fonts/Inter-boldItalic.fntdata"/><Relationship Id="rId12" Type="http://schemas.openxmlformats.org/officeDocument/2006/relationships/font" Target="fonts/Inter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9.png"/><Relationship Id="rId5" Type="http://schemas.openxmlformats.org/officeDocument/2006/relationships/image" Target="../media/image17.png"/><Relationship Id="rId6" Type="http://schemas.openxmlformats.org/officeDocument/2006/relationships/image" Target="../media/image11.png"/><Relationship Id="rId7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21.png"/><Relationship Id="rId5" Type="http://schemas.openxmlformats.org/officeDocument/2006/relationships/image" Target="../media/image7.png"/><Relationship Id="rId6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20.png"/><Relationship Id="rId5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457200" y="276225"/>
            <a:ext cx="1612798" cy="166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080"/>
              <a:buFont typeface="Inter"/>
              <a:buNone/>
            </a:pPr>
            <a:r>
              <a:rPr b="1" i="0" lang="en-US" sz="1080" u="none" cap="none" strike="noStrike">
                <a:solidFill>
                  <a:srgbClr val="0A1628"/>
                </a:solidFill>
                <a:latin typeface="Inter"/>
                <a:ea typeface="Inter"/>
                <a:cs typeface="Inter"/>
                <a:sym typeface="Inter"/>
              </a:rPr>
              <a:t>web fundamentals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" name="Google Shape;17;p3"/>
          <p:cNvPicPr preferRelativeResize="0"/>
          <p:nvPr/>
        </p:nvPicPr>
        <p:blipFill rotWithShape="1">
          <a:blip r:embed="rId3">
            <a:alphaModFix amt="75000"/>
          </a:blip>
          <a:srcRect b="0" l="0" r="0" t="0"/>
          <a:stretch/>
        </p:blipFill>
        <p:spPr>
          <a:xfrm>
            <a:off x="5304495" y="1131540"/>
            <a:ext cx="3381375" cy="15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6309875" y="4339875"/>
            <a:ext cx="2770200" cy="7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6174"/>
              </a:buClr>
              <a:buSzPts val="1440"/>
              <a:buFont typeface="Inter"/>
              <a:buNone/>
            </a:pPr>
            <a:r>
              <a:rPr b="1" lang="en-US" sz="144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Ebin Antony P</a:t>
            </a:r>
            <a:endParaRPr b="1" sz="144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6174"/>
              </a:buClr>
              <a:buSzPts val="1440"/>
              <a:buFont typeface="Inter"/>
              <a:buNone/>
            </a:pPr>
            <a:r>
              <a:rPr b="1" lang="en-US" sz="144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192373011</a:t>
            </a:r>
            <a:endParaRPr b="1" sz="144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6174"/>
              </a:buClr>
              <a:buSzPts val="1440"/>
              <a:buFont typeface="Inter"/>
              <a:buNone/>
            </a:pPr>
            <a:r>
              <a:rPr b="1" lang="en-US" sz="144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B.E. CSE(DS)</a:t>
            </a:r>
            <a:endParaRPr b="1" sz="144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6174"/>
              </a:buClr>
              <a:buSzPts val="1440"/>
              <a:buFont typeface="Inter"/>
              <a:buNone/>
            </a:pPr>
            <a:r>
              <a:t/>
            </a:r>
            <a:endParaRPr b="1" sz="144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6174"/>
              </a:buClr>
              <a:buSzPts val="1440"/>
              <a:buFont typeface="Inter"/>
              <a:buNone/>
            </a:pPr>
            <a:r>
              <a:t/>
            </a:r>
            <a:endParaRPr b="1" sz="144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6309866" y="4429051"/>
            <a:ext cx="2376487" cy="4763"/>
          </a:xfrm>
          <a:prstGeom prst="rect">
            <a:avLst/>
          </a:prstGeom>
          <a:solidFill>
            <a:srgbClr val="D5D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457200" y="2726606"/>
            <a:ext cx="7831522" cy="795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5180"/>
              <a:buFont typeface="Inter"/>
              <a:buNone/>
            </a:pPr>
            <a:r>
              <a:rPr b="1" i="0" lang="en-US" sz="5180" u="none" cap="none" strike="noStrike">
                <a:solidFill>
                  <a:srgbClr val="0A1628"/>
                </a:solidFill>
                <a:latin typeface="Inter"/>
                <a:ea typeface="Inter"/>
                <a:cs typeface="Inter"/>
                <a:sym typeface="Inter"/>
              </a:rPr>
              <a:t>Cookies vs Sessions</a:t>
            </a:r>
            <a:endParaRPr b="0" i="0" sz="5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 txBox="1"/>
          <p:nvPr/>
        </p:nvSpPr>
        <p:spPr>
          <a:xfrm>
            <a:off x="160550" y="4344725"/>
            <a:ext cx="3151500" cy="7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Inter"/>
                <a:ea typeface="Inter"/>
                <a:cs typeface="Inter"/>
                <a:sym typeface="Inter"/>
              </a:rPr>
              <a:t>Guided By: Dr. D. Sudhagar</a:t>
            </a:r>
            <a:endParaRPr b="1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Inter"/>
                <a:ea typeface="Inter"/>
                <a:cs typeface="Inter"/>
                <a:sym typeface="Inter"/>
              </a:rPr>
              <a:t>CSA4305 Internet Programming</a:t>
            </a:r>
            <a:endParaRPr b="1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/>
          <p:nvPr/>
        </p:nvSpPr>
        <p:spPr>
          <a:xfrm>
            <a:off x="366750" y="330064"/>
            <a:ext cx="2009775" cy="152400"/>
          </a:xfrm>
          <a:prstGeom prst="rect">
            <a:avLst/>
          </a:prstGeom>
          <a:solidFill>
            <a:srgbClr val="0A1628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7729761" y="271463"/>
            <a:ext cx="1301301" cy="133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860"/>
              <a:buFont typeface="Inter"/>
              <a:buNone/>
            </a:pPr>
            <a:r>
              <a:rPr b="1" i="0" lang="en-US" sz="860" u="none" cap="none" strike="noStrike">
                <a:solidFill>
                  <a:srgbClr val="0A1628"/>
                </a:solidFill>
                <a:latin typeface="Inter"/>
                <a:ea typeface="Inter"/>
                <a:cs typeface="Inter"/>
                <a:sym typeface="Inter"/>
              </a:rPr>
              <a:t>web fundamentals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457200" y="1007715"/>
            <a:ext cx="5007345" cy="101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536174"/>
              </a:buClr>
              <a:buSzPts val="1440"/>
              <a:buFont typeface="Inter"/>
              <a:buNone/>
            </a:pPr>
            <a:r>
              <a:rPr b="0" i="0" lang="en-US" sz="1440" u="none" cap="none" strike="noStrike">
                <a:solidFill>
                  <a:srgbClr val="536174"/>
                </a:solidFill>
                <a:latin typeface="Inter"/>
                <a:ea typeface="Inter"/>
                <a:cs typeface="Inter"/>
                <a:sym typeface="Inter"/>
              </a:rPr>
              <a:t>Both mechanisms help an application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536174"/>
              </a:buClr>
              <a:buSzPts val="1440"/>
              <a:buFont typeface="Inter"/>
              <a:buNone/>
            </a:pPr>
            <a:r>
              <a:rPr b="0" i="0" lang="en-US" sz="1440" u="none" cap="none" strike="noStrike">
                <a:solidFill>
                  <a:srgbClr val="536174"/>
                </a:solidFill>
                <a:latin typeface="Inter"/>
                <a:ea typeface="Inter"/>
                <a:cs typeface="Inter"/>
                <a:sym typeface="Inter"/>
              </a:rPr>
              <a:t>recognize a browser across requests. The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536174"/>
              </a:buClr>
              <a:buSzPts val="1440"/>
              <a:buFont typeface="Inter"/>
              <a:buNone/>
            </a:pPr>
            <a:r>
              <a:rPr b="0" i="0" lang="en-US" sz="1440" u="none" cap="none" strike="noStrike">
                <a:solidFill>
                  <a:srgbClr val="536174"/>
                </a:solidFill>
                <a:latin typeface="Inter"/>
                <a:ea typeface="Inter"/>
                <a:cs typeface="Inter"/>
                <a:sym typeface="Inter"/>
              </a:rPr>
              <a:t>decisive difference is where the meaningful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536174"/>
              </a:buClr>
              <a:buSzPts val="1440"/>
              <a:buFont typeface="Inter"/>
              <a:buNone/>
            </a:pPr>
            <a:r>
              <a:rPr b="0" i="0" lang="en-US" sz="1440" u="none" cap="none" strike="noStrike">
                <a:solidFill>
                  <a:srgbClr val="536174"/>
                </a:solidFill>
                <a:latin typeface="Inter"/>
                <a:ea typeface="Inter"/>
                <a:cs typeface="Inter"/>
                <a:sym typeface="Inter"/>
              </a:rPr>
              <a:t>state lives.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456716" y="2255193"/>
            <a:ext cx="4081462" cy="4763"/>
          </a:xfrm>
          <a:prstGeom prst="rect">
            <a:avLst/>
          </a:prstGeom>
          <a:solidFill>
            <a:srgbClr val="D5D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457200" y="2500089"/>
            <a:ext cx="228860" cy="12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860"/>
              <a:buFont typeface="Arial"/>
              <a:buNone/>
            </a:pPr>
            <a:r>
              <a:rPr b="1" i="0" lang="en-US" sz="86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772120" y="2484686"/>
            <a:ext cx="795070" cy="185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190"/>
              <a:buFont typeface="Inter"/>
              <a:buNone/>
            </a:pPr>
            <a:r>
              <a:rPr b="1" i="0" lang="en-US" sz="1190" u="none" cap="none" strike="noStrike">
                <a:solidFill>
                  <a:srgbClr val="0A1628"/>
                </a:solidFill>
                <a:latin typeface="Inter"/>
                <a:ea typeface="Inter"/>
                <a:cs typeface="Inter"/>
                <a:sym typeface="Inter"/>
              </a:rPr>
              <a:t>Cookies</a:t>
            </a:r>
            <a:endParaRPr b="0" i="0" sz="11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772120" y="2752948"/>
            <a:ext cx="3431478" cy="465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36174"/>
              </a:buClr>
              <a:buSzPts val="1440"/>
              <a:buFont typeface="Inter"/>
              <a:buNone/>
            </a:pPr>
            <a:r>
              <a:rPr b="0" i="0" lang="en-US" sz="1440" u="none" cap="none" strike="noStrike">
                <a:solidFill>
                  <a:srgbClr val="536174"/>
                </a:solidFill>
                <a:latin typeface="Inter"/>
                <a:ea typeface="Inter"/>
                <a:cs typeface="Inter"/>
                <a:sym typeface="Inter"/>
              </a:rPr>
              <a:t>Small key-value data stored in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36174"/>
              </a:buClr>
              <a:buSzPts val="1440"/>
              <a:buFont typeface="Inter"/>
              <a:buNone/>
            </a:pPr>
            <a:r>
              <a:rPr b="0" i="0" lang="en-US" sz="1440" u="none" cap="none" strike="noStrike">
                <a:solidFill>
                  <a:srgbClr val="536174"/>
                </a:solidFill>
                <a:latin typeface="Inter"/>
                <a:ea typeface="Inter"/>
                <a:cs typeface="Inter"/>
                <a:sym typeface="Inter"/>
              </a:rPr>
              <a:t>the user's browser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457200" y="3446562"/>
            <a:ext cx="228860" cy="12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860"/>
              <a:buFont typeface="Arial"/>
              <a:buNone/>
            </a:pPr>
            <a:r>
              <a:rPr b="1" i="0" lang="en-US" sz="86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772120" y="3431158"/>
            <a:ext cx="880296" cy="185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190"/>
              <a:buFont typeface="Inter"/>
              <a:buNone/>
            </a:pPr>
            <a:r>
              <a:rPr b="1" i="0" lang="en-US" sz="1190" u="none" cap="none" strike="noStrike">
                <a:solidFill>
                  <a:srgbClr val="0A1628"/>
                </a:solidFill>
                <a:latin typeface="Inter"/>
                <a:ea typeface="Inter"/>
                <a:cs typeface="Inter"/>
                <a:sym typeface="Inter"/>
              </a:rPr>
              <a:t>Sessions</a:t>
            </a:r>
            <a:endParaRPr b="0" i="0" sz="11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772120" y="3699421"/>
            <a:ext cx="3639756" cy="465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36174"/>
              </a:buClr>
              <a:buSzPts val="1440"/>
              <a:buFont typeface="Inter"/>
              <a:buNone/>
            </a:pPr>
            <a:r>
              <a:rPr b="0" i="0" lang="en-US" sz="1440" u="none" cap="none" strike="noStrike">
                <a:solidFill>
                  <a:srgbClr val="536174"/>
                </a:solidFill>
                <a:latin typeface="Inter"/>
                <a:ea typeface="Inter"/>
                <a:cs typeface="Inter"/>
                <a:sym typeface="Inter"/>
              </a:rPr>
              <a:t>Server-side state identified by a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36174"/>
              </a:buClr>
              <a:buSzPts val="1440"/>
              <a:buFont typeface="Inter"/>
              <a:buNone/>
            </a:pPr>
            <a:r>
              <a:rPr b="0" i="0" lang="en-US" sz="1440" u="none" cap="none" strike="noStrike">
                <a:solidFill>
                  <a:srgbClr val="536174"/>
                </a:solidFill>
                <a:latin typeface="Inter"/>
                <a:ea typeface="Inter"/>
                <a:cs typeface="Inter"/>
                <a:sym typeface="Inter"/>
              </a:rPr>
              <a:t>session ID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995379" y="989633"/>
            <a:ext cx="3690937" cy="3895725"/>
          </a:xfrm>
          <a:prstGeom prst="rect">
            <a:avLst/>
          </a:prstGeom>
          <a:solidFill>
            <a:srgbClr val="EEF1F3"/>
          </a:solidFill>
          <a:ln cap="flat" cmpd="sng" w="9525">
            <a:solidFill>
              <a:srgbClr val="D5DB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5205338" y="1208633"/>
            <a:ext cx="1687093" cy="1095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720"/>
              <a:buFont typeface="Arial"/>
              <a:buNone/>
            </a:pPr>
            <a:r>
              <a:rPr b="1" i="0" lang="en-US" sz="72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THE DESIGN QUESTION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5205338" y="1471464"/>
            <a:ext cx="2547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870"/>
              <a:buFont typeface="Inter"/>
              <a:buNone/>
            </a:pPr>
            <a:r>
              <a:rPr b="1" i="0" lang="en-US" sz="1870" u="none" cap="none" strike="noStrike">
                <a:solidFill>
                  <a:srgbClr val="0A1628"/>
                </a:solidFill>
                <a:latin typeface="Inter"/>
                <a:ea typeface="Inter"/>
                <a:cs typeface="Inter"/>
                <a:sym typeface="Inter"/>
              </a:rPr>
              <a:t>Where should the</a:t>
            </a:r>
            <a:endParaRPr b="0" i="0" sz="18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5205338" y="1728192"/>
            <a:ext cx="3817947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870"/>
              <a:buFont typeface="Inter"/>
              <a:buNone/>
            </a:pPr>
            <a:r>
              <a:rPr b="1" i="0" lang="en-US" sz="1870" u="none" cap="none" strike="noStrike">
                <a:solidFill>
                  <a:srgbClr val="0A1628"/>
                </a:solidFill>
                <a:latin typeface="Inter"/>
                <a:ea typeface="Inter"/>
                <a:cs typeface="Inter"/>
                <a:sym typeface="Inter"/>
              </a:rPr>
              <a:t>application trust the state?</a:t>
            </a:r>
            <a:endParaRPr b="0" i="0" sz="18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5204929" y="2364470"/>
            <a:ext cx="3271838" cy="895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5205338" y="2506414"/>
            <a:ext cx="4156628" cy="7311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36174"/>
              </a:buClr>
              <a:buSzPts val="1440"/>
              <a:buFont typeface="Inter"/>
              <a:buNone/>
            </a:pPr>
            <a:r>
              <a:rPr b="0" i="0" lang="en-US" sz="1440" u="none" cap="none" strike="noStrike">
                <a:solidFill>
                  <a:srgbClr val="536174"/>
                </a:solidFill>
                <a:latin typeface="Inter"/>
                <a:ea typeface="Inter"/>
                <a:cs typeface="Inter"/>
                <a:sym typeface="Inter"/>
              </a:rPr>
              <a:t>Cookies keep state close to the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36174"/>
              </a:buClr>
              <a:buSzPts val="1440"/>
              <a:buFont typeface="Inter"/>
              <a:buNone/>
            </a:pPr>
            <a:r>
              <a:rPr b="0" i="0" lang="en-US" sz="1440" u="none" cap="none" strike="noStrike">
                <a:solidFill>
                  <a:srgbClr val="536174"/>
                </a:solidFill>
                <a:latin typeface="Inter"/>
                <a:ea typeface="Inter"/>
                <a:cs typeface="Inter"/>
                <a:sym typeface="Inter"/>
              </a:rPr>
              <a:t>client. Sessions keep authority close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36174"/>
              </a:buClr>
              <a:buSzPts val="1440"/>
              <a:buFont typeface="Inter"/>
              <a:buNone/>
            </a:pPr>
            <a:r>
              <a:rPr b="0" i="0" lang="en-US" sz="1440" u="none" cap="none" strike="noStrike">
                <a:solidFill>
                  <a:srgbClr val="536174"/>
                </a:solidFill>
                <a:latin typeface="Inter"/>
                <a:ea typeface="Inter"/>
                <a:cs typeface="Inter"/>
                <a:sym typeface="Inter"/>
              </a:rPr>
              <a:t>to the server.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457200" y="4654116"/>
            <a:ext cx="8229600" cy="233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457200" y="4772397"/>
            <a:ext cx="2180942" cy="95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Foundations / Cookies vs Sessions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8587755" y="4772397"/>
            <a:ext cx="185909" cy="95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650"/>
              <a:buFont typeface="Arial"/>
              <a:buNone/>
            </a:pPr>
            <a:r>
              <a:rPr b="1" i="0" lang="en-US" sz="650" u="none" cap="none" strike="noStrike">
                <a:solidFill>
                  <a:srgbClr val="0A1628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7" name="Google Shape;4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04929" y="2364470"/>
            <a:ext cx="3271838" cy="895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8" name="Google Shape;4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0" y="4654116"/>
            <a:ext cx="8229600" cy="233362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4"/>
          <p:cNvSpPr/>
          <p:nvPr/>
        </p:nvSpPr>
        <p:spPr>
          <a:xfrm>
            <a:off x="457200" y="223838"/>
            <a:ext cx="5144133" cy="385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0A1628"/>
                </a:solidFill>
                <a:latin typeface="Inter"/>
                <a:ea typeface="Inter"/>
                <a:cs typeface="Inter"/>
                <a:sym typeface="Inter"/>
              </a:rPr>
              <a:t>Two mechanisms, one goal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5" name="Google Shape;5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5"/>
          <p:cNvSpPr/>
          <p:nvPr/>
        </p:nvSpPr>
        <p:spPr>
          <a:xfrm>
            <a:off x="365336" y="330064"/>
            <a:ext cx="2652713" cy="152400"/>
          </a:xfrm>
          <a:prstGeom prst="rect">
            <a:avLst/>
          </a:prstGeom>
          <a:solidFill>
            <a:srgbClr val="0A1628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7729761" y="271463"/>
            <a:ext cx="1301301" cy="133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860"/>
              <a:buFont typeface="Inter"/>
              <a:buNone/>
            </a:pPr>
            <a:r>
              <a:rPr b="1" i="0" lang="en-US" sz="860" u="none" cap="none" strike="noStrike">
                <a:solidFill>
                  <a:srgbClr val="0A1628"/>
                </a:solidFill>
                <a:latin typeface="Inter"/>
                <a:ea typeface="Inter"/>
                <a:cs typeface="Inter"/>
                <a:sym typeface="Inter"/>
              </a:rPr>
              <a:t>web fundamentals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456716" y="989633"/>
            <a:ext cx="4024312" cy="3895725"/>
          </a:xfrm>
          <a:prstGeom prst="rect">
            <a:avLst/>
          </a:prstGeom>
          <a:solidFill>
            <a:srgbClr val="EEF1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637208" y="1197248"/>
            <a:ext cx="1095345" cy="119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790"/>
              <a:buFont typeface="Arial"/>
              <a:buNone/>
            </a:pPr>
            <a:r>
              <a:rPr b="1" i="0" lang="en-US" sz="79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CLIENT-SIDE</a:t>
            </a:r>
            <a:endParaRPr b="0" i="0" sz="7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637208" y="1474812"/>
            <a:ext cx="1392332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2160"/>
              <a:buFont typeface="Inter"/>
              <a:buNone/>
            </a:pPr>
            <a:r>
              <a:rPr b="1" i="0" lang="en-US" sz="2160" u="none" cap="none" strike="noStrike">
                <a:solidFill>
                  <a:srgbClr val="0A1628"/>
                </a:solidFill>
                <a:latin typeface="Inter"/>
                <a:ea typeface="Inter"/>
                <a:cs typeface="Inter"/>
                <a:sym typeface="Inter"/>
              </a:rPr>
              <a:t>Cookies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637208" y="1965275"/>
            <a:ext cx="3703119" cy="475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36174"/>
              </a:buClr>
              <a:buSzPts val="1440"/>
              <a:buFont typeface="Inter"/>
              <a:buNone/>
            </a:pPr>
            <a:r>
              <a:rPr b="0" i="0" lang="en-US" sz="1440" u="none" cap="none" strike="noStrike">
                <a:solidFill>
                  <a:srgbClr val="536174"/>
                </a:solidFill>
                <a:latin typeface="Inter"/>
                <a:ea typeface="Inter"/>
                <a:cs typeface="Inter"/>
                <a:sym typeface="Inter"/>
              </a:rPr>
              <a:t>Sent with matching requests;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36174"/>
              </a:buClr>
              <a:buSzPts val="1440"/>
              <a:buFont typeface="Inter"/>
              <a:buNone/>
            </a:pPr>
            <a:r>
              <a:rPr b="0" i="0" lang="en-US" sz="1440" u="none" cap="none" strike="noStrike">
                <a:solidFill>
                  <a:srgbClr val="536174"/>
                </a:solidFill>
                <a:latin typeface="Inter"/>
                <a:ea typeface="Inter"/>
                <a:cs typeface="Inter"/>
                <a:sym typeface="Inter"/>
              </a:rPr>
              <a:t>limited size and client-controlled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637691" y="4059734"/>
            <a:ext cx="3662362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637208" y="4208487"/>
            <a:ext cx="4403698" cy="475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440"/>
              <a:buFont typeface="Inter"/>
              <a:buNone/>
            </a:pPr>
            <a:r>
              <a:rPr b="0" i="0" lang="en-US" sz="1440" u="none" cap="none" strike="noStrike">
                <a:solidFill>
                  <a:srgbClr val="0A1628"/>
                </a:solidFill>
                <a:latin typeface="Inter"/>
                <a:ea typeface="Inter"/>
                <a:cs typeface="Inter"/>
                <a:sym typeface="Inter"/>
              </a:rPr>
              <a:t>Simple for preferences and lightweight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440"/>
              <a:buFont typeface="Inter"/>
              <a:buNone/>
            </a:pPr>
            <a:r>
              <a:rPr b="0" i="0" lang="en-US" sz="1440" u="none" cap="none" strike="noStrike">
                <a:solidFill>
                  <a:srgbClr val="0A1628"/>
                </a:solidFill>
                <a:latin typeface="Inter"/>
                <a:ea typeface="Inter"/>
                <a:cs typeface="Inter"/>
                <a:sym typeface="Inter"/>
              </a:rPr>
              <a:t>state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4662934" y="989633"/>
            <a:ext cx="4024312" cy="3895725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4843388" y="1197248"/>
            <a:ext cx="1095345" cy="119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B7C9"/>
              </a:buClr>
              <a:buSzPts val="790"/>
              <a:buFont typeface="Arial"/>
              <a:buNone/>
            </a:pPr>
            <a:r>
              <a:rPr b="1" i="0" lang="en-US" sz="790" u="none" cap="none" strike="noStrike">
                <a:solidFill>
                  <a:srgbClr val="A9B7C9"/>
                </a:solidFill>
                <a:latin typeface="Arial"/>
                <a:ea typeface="Arial"/>
                <a:cs typeface="Arial"/>
                <a:sym typeface="Arial"/>
              </a:rPr>
              <a:t>SERVER-SIDE</a:t>
            </a:r>
            <a:endParaRPr b="0" i="0" sz="7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4843388" y="1474812"/>
            <a:ext cx="1557077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2160"/>
              <a:buFont typeface="Inter"/>
              <a:buNone/>
            </a:pPr>
            <a:r>
              <a:rPr b="1" i="0" lang="en-US" sz="2160" u="none" cap="none" strike="noStrike">
                <a:solidFill>
                  <a:srgbClr val="F7F6F2"/>
                </a:solidFill>
                <a:latin typeface="Inter"/>
                <a:ea typeface="Inter"/>
                <a:cs typeface="Inter"/>
                <a:sym typeface="Inter"/>
              </a:rPr>
              <a:t>Sessions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4843388" y="1965275"/>
            <a:ext cx="3543211" cy="7311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7DDE5"/>
              </a:buClr>
              <a:buSzPts val="1440"/>
              <a:buFont typeface="Inter"/>
              <a:buNone/>
            </a:pPr>
            <a:r>
              <a:rPr b="0" i="0" lang="en-US" sz="1440" u="none" cap="none" strike="noStrike">
                <a:solidFill>
                  <a:srgbClr val="D7DDE5"/>
                </a:solidFill>
                <a:latin typeface="Inter"/>
                <a:ea typeface="Inter"/>
                <a:cs typeface="Inter"/>
                <a:sym typeface="Inter"/>
              </a:rPr>
              <a:t>Data stays on the server; the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7DDE5"/>
              </a:buClr>
              <a:buSzPts val="1440"/>
              <a:buFont typeface="Inter"/>
              <a:buNone/>
            </a:pPr>
            <a:r>
              <a:rPr b="0" i="0" lang="en-US" sz="1440" u="none" cap="none" strike="noStrike">
                <a:solidFill>
                  <a:srgbClr val="D7DDE5"/>
                </a:solidFill>
                <a:latin typeface="Inter"/>
                <a:ea typeface="Inter"/>
                <a:cs typeface="Inter"/>
                <a:sym typeface="Inter"/>
              </a:rPr>
              <a:t>browser typically holds only an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7DDE5"/>
              </a:buClr>
              <a:buSzPts val="1440"/>
              <a:buFont typeface="Inter"/>
              <a:buNone/>
            </a:pPr>
            <a:r>
              <a:rPr b="0" i="0" lang="en-US" sz="1440" u="none" cap="none" strike="noStrike">
                <a:solidFill>
                  <a:srgbClr val="D7DDE5"/>
                </a:solidFill>
                <a:latin typeface="Inter"/>
                <a:ea typeface="Inter"/>
                <a:cs typeface="Inter"/>
                <a:sym typeface="Inter"/>
              </a:rPr>
              <a:t>opaque ID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4843909" y="4059734"/>
            <a:ext cx="3662362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4843388" y="4208487"/>
            <a:ext cx="4818802" cy="475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1440"/>
              <a:buFont typeface="Inter"/>
              <a:buNone/>
            </a:pPr>
            <a:r>
              <a:rPr b="0" i="0" lang="en-US" sz="1440" u="none" cap="none" strike="noStrike">
                <a:solidFill>
                  <a:srgbClr val="F7F6F2"/>
                </a:solidFill>
                <a:latin typeface="Inter"/>
                <a:ea typeface="Inter"/>
                <a:cs typeface="Inter"/>
                <a:sym typeface="Inter"/>
              </a:rPr>
              <a:t>Stronger for carts, accounts, and sensitive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1440"/>
              <a:buFont typeface="Inter"/>
              <a:buNone/>
            </a:pPr>
            <a:r>
              <a:rPr b="0" i="0" lang="en-US" sz="1440" u="none" cap="none" strike="noStrike">
                <a:solidFill>
                  <a:srgbClr val="F7F6F2"/>
                </a:solidFill>
                <a:latin typeface="Inter"/>
                <a:ea typeface="Inter"/>
                <a:cs typeface="Inter"/>
                <a:sym typeface="Inter"/>
              </a:rPr>
              <a:t>workflows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457200" y="4654116"/>
            <a:ext cx="8229600" cy="233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457200" y="4772397"/>
            <a:ext cx="2309701" cy="95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Storage model / Cookies vs Sessions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8587755" y="4772397"/>
            <a:ext cx="185909" cy="95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650"/>
              <a:buFont typeface="Arial"/>
              <a:buNone/>
            </a:pPr>
            <a:r>
              <a:rPr b="1" i="0" lang="en-US" sz="650" u="none" cap="none" strike="noStrike">
                <a:solidFill>
                  <a:srgbClr val="0A1628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3" name="Google Shape;7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6716" y="989633"/>
            <a:ext cx="4024312" cy="3895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4" name="Google Shape;7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7691" y="4059734"/>
            <a:ext cx="3662362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5" name="Google Shape;7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2934" y="989633"/>
            <a:ext cx="4024312" cy="3895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6" name="Google Shape;7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43909" y="4059734"/>
            <a:ext cx="3662362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7" name="Google Shape;77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7200" y="4654116"/>
            <a:ext cx="8229600" cy="233362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5"/>
          <p:cNvSpPr/>
          <p:nvPr/>
        </p:nvSpPr>
        <p:spPr>
          <a:xfrm>
            <a:off x="457200" y="223838"/>
            <a:ext cx="7254478" cy="385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0A1628"/>
                </a:solidFill>
                <a:latin typeface="Inter"/>
                <a:ea typeface="Inter"/>
                <a:cs typeface="Inter"/>
                <a:sym typeface="Inter"/>
              </a:rPr>
              <a:t>Storage location changes the trade-off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4" name="Google Shape;8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6"/>
          <p:cNvSpPr/>
          <p:nvPr/>
        </p:nvSpPr>
        <p:spPr>
          <a:xfrm>
            <a:off x="366266" y="330064"/>
            <a:ext cx="2833687" cy="152400"/>
          </a:xfrm>
          <a:prstGeom prst="rect">
            <a:avLst/>
          </a:prstGeom>
          <a:solidFill>
            <a:srgbClr val="0A1628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7729761" y="271463"/>
            <a:ext cx="1301301" cy="133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860"/>
              <a:buFont typeface="Inter"/>
              <a:buNone/>
            </a:pPr>
            <a:r>
              <a:rPr b="1" i="0" lang="en-US" sz="860" u="none" cap="none" strike="noStrike">
                <a:solidFill>
                  <a:srgbClr val="0A1628"/>
                </a:solidFill>
                <a:latin typeface="Inter"/>
                <a:ea typeface="Inter"/>
                <a:cs typeface="Inter"/>
                <a:sym typeface="Inter"/>
              </a:rPr>
              <a:t>web fundamentals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456419" y="937729"/>
            <a:ext cx="3810000" cy="3948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"/>
          <p:cNvSpPr/>
          <p:nvPr/>
        </p:nvSpPr>
        <p:spPr>
          <a:xfrm>
            <a:off x="457200" y="1094408"/>
            <a:ext cx="1189665" cy="119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790"/>
              <a:buFont typeface="Arial"/>
              <a:buNone/>
            </a:pPr>
            <a:r>
              <a:rPr b="1" i="0" lang="en-US" sz="79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RISK SURFACE</a:t>
            </a:r>
            <a:endParaRPr b="0" i="0" sz="7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457200" y="1394817"/>
            <a:ext cx="4975227" cy="460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13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440"/>
              <a:buFont typeface="Inter"/>
              <a:buNone/>
            </a:pPr>
            <a:r>
              <a:rPr b="0" i="0" lang="en-US" sz="1440" u="none" cap="none" strike="noStrike">
                <a:solidFill>
                  <a:srgbClr val="0A1628"/>
                </a:solidFill>
                <a:latin typeface="Inter"/>
                <a:ea typeface="Inter"/>
                <a:cs typeface="Inter"/>
                <a:sym typeface="Inter"/>
              </a:rPr>
              <a:t>Cookies: protect with Secure, HttpOnly, and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13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440"/>
              <a:buFont typeface="Inter"/>
              <a:buNone/>
            </a:pPr>
            <a:r>
              <a:rPr b="0" i="0" lang="en-US" sz="1440" u="none" cap="none" strike="noStrike">
                <a:solidFill>
                  <a:srgbClr val="0A1628"/>
                </a:solidFill>
                <a:latin typeface="Inter"/>
                <a:ea typeface="Inter"/>
                <a:cs typeface="Inter"/>
                <a:sym typeface="Inter"/>
              </a:rPr>
              <a:t>SameSite attributes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457200" y="2021607"/>
            <a:ext cx="4472962" cy="460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13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440"/>
              <a:buFont typeface="Inter"/>
              <a:buNone/>
            </a:pPr>
            <a:r>
              <a:rPr b="0" i="0" lang="en-US" sz="1440" u="none" cap="none" strike="noStrike">
                <a:solidFill>
                  <a:srgbClr val="0A1628"/>
                </a:solidFill>
                <a:latin typeface="Inter"/>
                <a:ea typeface="Inter"/>
                <a:cs typeface="Inter"/>
                <a:sym typeface="Inter"/>
              </a:rPr>
              <a:t>Session risks: stolen IDs, fixation, weak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13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440"/>
              <a:buFont typeface="Inter"/>
              <a:buNone/>
            </a:pPr>
            <a:r>
              <a:rPr b="0" i="0" lang="en-US" sz="1440" u="none" cap="none" strike="noStrike">
                <a:solidFill>
                  <a:srgbClr val="0A1628"/>
                </a:solidFill>
                <a:latin typeface="Inter"/>
                <a:ea typeface="Inter"/>
                <a:cs typeface="Inter"/>
                <a:sym typeface="Inter"/>
              </a:rPr>
              <a:t>expiration, and server-store exposure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457200" y="2648396"/>
            <a:ext cx="4508852" cy="7018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13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440"/>
              <a:buFont typeface="Inter"/>
              <a:buNone/>
            </a:pPr>
            <a:r>
              <a:rPr b="0" i="0" lang="en-US" sz="1440" u="none" cap="none" strike="noStrike">
                <a:solidFill>
                  <a:srgbClr val="0A1628"/>
                </a:solidFill>
                <a:latin typeface="Inter"/>
                <a:ea typeface="Inter"/>
                <a:cs typeface="Inter"/>
                <a:sym typeface="Inter"/>
              </a:rPr>
              <a:t>Neither is automatically secure: HTTPS,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13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440"/>
              <a:buFont typeface="Inter"/>
              <a:buNone/>
            </a:pPr>
            <a:r>
              <a:rPr b="0" i="0" lang="en-US" sz="1440" u="none" cap="none" strike="noStrike">
                <a:solidFill>
                  <a:srgbClr val="0A1628"/>
                </a:solidFill>
                <a:latin typeface="Inter"/>
                <a:ea typeface="Inter"/>
                <a:cs typeface="Inter"/>
                <a:sym typeface="Inter"/>
              </a:rPr>
              <a:t>rotation, expiration, and CSRF defenses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13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440"/>
              <a:buFont typeface="Inter"/>
              <a:buNone/>
            </a:pPr>
            <a:r>
              <a:rPr b="0" i="0" lang="en-US" sz="1440" u="none" cap="none" strike="noStrike">
                <a:solidFill>
                  <a:srgbClr val="0A1628"/>
                </a:solidFill>
                <a:latin typeface="Inter"/>
                <a:ea typeface="Inter"/>
                <a:cs typeface="Inter"/>
                <a:sym typeface="Inter"/>
              </a:rPr>
              <a:t>matter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4723619" y="937729"/>
            <a:ext cx="3962400" cy="3948112"/>
          </a:xfrm>
          <a:prstGeom prst="rect">
            <a:avLst/>
          </a:prstGeom>
          <a:solidFill>
            <a:srgbClr val="EEF1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4902845" y="1131540"/>
            <a:ext cx="1189665" cy="119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790"/>
              <a:buFont typeface="Arial"/>
              <a:buNone/>
            </a:pPr>
            <a:r>
              <a:rPr b="1" i="0" lang="en-US" sz="79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RUNTIME COST</a:t>
            </a:r>
            <a:endParaRPr b="0" i="0" sz="7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4902845" y="1436712"/>
            <a:ext cx="214543" cy="119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790"/>
              <a:buFont typeface="Arial"/>
              <a:buNone/>
            </a:pPr>
            <a:r>
              <a:rPr b="1" i="0" lang="en-US" sz="79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7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5179293" y="1431950"/>
            <a:ext cx="4081366" cy="7018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13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440"/>
              <a:buFont typeface="Inter"/>
              <a:buNone/>
            </a:pPr>
            <a:r>
              <a:rPr b="0" i="0" lang="en-US" sz="1440" u="none" cap="none" strike="noStrike">
                <a:solidFill>
                  <a:srgbClr val="0A1628"/>
                </a:solidFill>
                <a:latin typeface="Inter"/>
                <a:ea typeface="Inter"/>
                <a:cs typeface="Inter"/>
                <a:sym typeface="Inter"/>
              </a:rPr>
              <a:t>Cookie payloads travel on requests;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13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440"/>
              <a:buFont typeface="Inter"/>
              <a:buNone/>
            </a:pPr>
            <a:r>
              <a:rPr b="0" i="0" lang="en-US" sz="1440" u="none" cap="none" strike="noStrike">
                <a:solidFill>
                  <a:srgbClr val="0A1628"/>
                </a:solidFill>
                <a:latin typeface="Inter"/>
                <a:ea typeface="Inter"/>
                <a:cs typeface="Inter"/>
                <a:sym typeface="Inter"/>
              </a:rPr>
              <a:t>large cookies add bandwidth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13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440"/>
              <a:buFont typeface="Inter"/>
              <a:buNone/>
            </a:pPr>
            <a:r>
              <a:rPr b="0" i="0" lang="en-US" sz="1440" u="none" cap="none" strike="noStrike">
                <a:solidFill>
                  <a:srgbClr val="0A1628"/>
                </a:solidFill>
                <a:latin typeface="Inter"/>
                <a:ea typeface="Inter"/>
                <a:cs typeface="Inter"/>
                <a:sym typeface="Inter"/>
              </a:rPr>
              <a:t>overhead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4902845" y="2335783"/>
            <a:ext cx="214543" cy="119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790"/>
              <a:buFont typeface="Arial"/>
              <a:buNone/>
            </a:pPr>
            <a:r>
              <a:rPr b="1" i="0" lang="en-US" sz="79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7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5179293" y="2331021"/>
            <a:ext cx="4067726" cy="7018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13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440"/>
              <a:buFont typeface="Inter"/>
              <a:buNone/>
            </a:pPr>
            <a:r>
              <a:rPr b="0" i="0" lang="en-US" sz="1440" u="none" cap="none" strike="noStrike">
                <a:solidFill>
                  <a:srgbClr val="0A1628"/>
                </a:solidFill>
                <a:latin typeface="Inter"/>
                <a:ea typeface="Inter"/>
                <a:cs typeface="Inter"/>
                <a:sym typeface="Inter"/>
              </a:rPr>
              <a:t>Sessions add lookup and storage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13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440"/>
              <a:buFont typeface="Inter"/>
              <a:buNone/>
            </a:pPr>
            <a:r>
              <a:rPr b="0" i="0" lang="en-US" sz="1440" u="none" cap="none" strike="noStrike">
                <a:solidFill>
                  <a:srgbClr val="0A1628"/>
                </a:solidFill>
                <a:latin typeface="Inter"/>
                <a:ea typeface="Inter"/>
                <a:cs typeface="Inter"/>
                <a:sym typeface="Inter"/>
              </a:rPr>
              <a:t>cost, but keep sensitive data off the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13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440"/>
              <a:buFont typeface="Inter"/>
              <a:buNone/>
            </a:pPr>
            <a:r>
              <a:rPr b="0" i="0" lang="en-US" sz="1440" u="none" cap="none" strike="noStrike">
                <a:solidFill>
                  <a:srgbClr val="0A1628"/>
                </a:solidFill>
                <a:latin typeface="Inter"/>
                <a:ea typeface="Inter"/>
                <a:cs typeface="Inter"/>
                <a:sym typeface="Inter"/>
              </a:rPr>
              <a:t>client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4902212" y="3353098"/>
            <a:ext cx="3605212" cy="49053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4902845" y="3476923"/>
            <a:ext cx="4199483" cy="351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36174"/>
              </a:buClr>
              <a:buSzPts val="1080"/>
              <a:buFont typeface="Inter"/>
              <a:buNone/>
            </a:pPr>
            <a:r>
              <a:rPr b="0" i="0" lang="en-US" sz="1080" u="none" cap="none" strike="noStrike">
                <a:solidFill>
                  <a:srgbClr val="536174"/>
                </a:solidFill>
                <a:latin typeface="Inter"/>
                <a:ea typeface="Inter"/>
                <a:cs typeface="Inter"/>
                <a:sym typeface="Inter"/>
              </a:rPr>
              <a:t>The best choice is a threat-model decision with a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36174"/>
              </a:buClr>
              <a:buSzPts val="1080"/>
              <a:buFont typeface="Inter"/>
              <a:buNone/>
            </a:pPr>
            <a:r>
              <a:rPr b="0" i="0" lang="en-US" sz="1080" u="none" cap="none" strike="noStrike">
                <a:solidFill>
                  <a:srgbClr val="536174"/>
                </a:solidFill>
                <a:latin typeface="Inter"/>
                <a:ea typeface="Inter"/>
                <a:cs typeface="Inter"/>
                <a:sym typeface="Inter"/>
              </a:rPr>
              <a:t>measurable runtime budget.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457200" y="4654116"/>
            <a:ext cx="8229600" cy="233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457200" y="4772397"/>
            <a:ext cx="2374032" cy="95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Risk + runtime / Cookies vs Sessions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8587755" y="4772397"/>
            <a:ext cx="185909" cy="95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650"/>
              <a:buFont typeface="Arial"/>
              <a:buNone/>
            </a:pPr>
            <a:r>
              <a:rPr b="1" i="0" lang="en-US" sz="650" u="none" cap="none" strike="noStrike">
                <a:solidFill>
                  <a:srgbClr val="0A1628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3" name="Google Shape;10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6419" y="937729"/>
            <a:ext cx="3810000" cy="39481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4" name="Google Shape;104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02212" y="3353098"/>
            <a:ext cx="3605212" cy="4905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5" name="Google Shape;105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7200" y="4654116"/>
            <a:ext cx="8229600" cy="233362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6"/>
          <p:cNvSpPr/>
          <p:nvPr/>
        </p:nvSpPr>
        <p:spPr>
          <a:xfrm>
            <a:off x="457200" y="223838"/>
            <a:ext cx="7739524" cy="385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0A1628"/>
                </a:solidFill>
                <a:latin typeface="Inter"/>
                <a:ea typeface="Inter"/>
                <a:cs typeface="Inter"/>
                <a:sym typeface="Inter"/>
              </a:rPr>
              <a:t>Security and performance are connected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"/>
          <p:cNvSpPr/>
          <p:nvPr/>
        </p:nvSpPr>
        <p:spPr>
          <a:xfrm>
            <a:off x="457200" y="276225"/>
            <a:ext cx="1612798" cy="166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1080"/>
              <a:buFont typeface="Inter"/>
              <a:buNone/>
            </a:pPr>
            <a:r>
              <a:rPr b="1" i="0" lang="en-US" sz="1080" u="none" cap="none" strike="noStrike">
                <a:solidFill>
                  <a:srgbClr val="F7F6F2"/>
                </a:solidFill>
                <a:latin typeface="Inter"/>
                <a:ea typeface="Inter"/>
                <a:cs typeface="Inter"/>
                <a:sym typeface="Inter"/>
              </a:rPr>
              <a:t>web fundamentals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7647161" y="266700"/>
            <a:ext cx="1408681" cy="95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B7C9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A9B7C9"/>
                </a:solidFill>
                <a:latin typeface="Arial"/>
                <a:ea typeface="Arial"/>
                <a:cs typeface="Arial"/>
                <a:sym typeface="Arial"/>
              </a:rPr>
              <a:t>Decision guide / 2026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365336" y="971029"/>
            <a:ext cx="2652713" cy="233362"/>
          </a:xfrm>
          <a:prstGeom prst="rect">
            <a:avLst/>
          </a:prstGeom>
          <a:solidFill>
            <a:srgbClr val="F7F6F2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"/>
          <p:cNvSpPr/>
          <p:nvPr/>
        </p:nvSpPr>
        <p:spPr>
          <a:xfrm>
            <a:off x="7039942" y="1722313"/>
            <a:ext cx="1647825" cy="4763"/>
          </a:xfrm>
          <a:prstGeom prst="rect">
            <a:avLst/>
          </a:prstGeom>
          <a:solidFill>
            <a:srgbClr val="52607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"/>
          <p:cNvSpPr/>
          <p:nvPr/>
        </p:nvSpPr>
        <p:spPr>
          <a:xfrm>
            <a:off x="458167" y="2076227"/>
            <a:ext cx="3838575" cy="581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457200" y="2183234"/>
            <a:ext cx="214543" cy="119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B7C9"/>
              </a:buClr>
              <a:buSzPts val="790"/>
              <a:buFont typeface="Arial"/>
              <a:buNone/>
            </a:pPr>
            <a:r>
              <a:rPr b="1" i="0" lang="en-US" sz="790" u="none" cap="none" strike="noStrike">
                <a:solidFill>
                  <a:srgbClr val="A9B7C9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7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724570" y="2173709"/>
            <a:ext cx="4328339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1F3"/>
              </a:buClr>
              <a:buSzPts val="1440"/>
              <a:buFont typeface="Inter"/>
              <a:buNone/>
            </a:pPr>
            <a:r>
              <a:rPr b="0" i="0" lang="en-US" sz="1440" u="none" cap="none" strike="noStrike">
                <a:solidFill>
                  <a:srgbClr val="EEF1F3"/>
                </a:solidFill>
                <a:latin typeface="Inter"/>
                <a:ea typeface="Inter"/>
                <a:cs typeface="Inter"/>
                <a:sym typeface="Inter"/>
              </a:rPr>
              <a:t>Remember theme or language: cookie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4847258" y="2076227"/>
            <a:ext cx="3838575" cy="581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4846290" y="2183234"/>
            <a:ext cx="214543" cy="119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B7C9"/>
              </a:buClr>
              <a:buSzPts val="790"/>
              <a:buFont typeface="Arial"/>
              <a:buNone/>
            </a:pPr>
            <a:r>
              <a:rPr b="1" i="0" lang="en-US" sz="790" u="none" cap="none" strike="noStrike">
                <a:solidFill>
                  <a:srgbClr val="A9B7C9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7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5113660" y="2175528"/>
            <a:ext cx="3912267" cy="4531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986"/>
              </a:lnSpc>
              <a:spcBef>
                <a:spcPts val="0"/>
              </a:spcBef>
              <a:spcAft>
                <a:spcPts val="0"/>
              </a:spcAft>
              <a:buClr>
                <a:srgbClr val="EEF1F3"/>
              </a:buClr>
              <a:buSzPts val="1440"/>
              <a:buFont typeface="Inter"/>
              <a:buNone/>
            </a:pPr>
            <a:r>
              <a:rPr b="0" i="0" lang="en-US" sz="1440" u="none" cap="none" strike="noStrike">
                <a:solidFill>
                  <a:srgbClr val="EEF1F3"/>
                </a:solidFill>
                <a:latin typeface="Inter"/>
                <a:ea typeface="Inter"/>
                <a:cs typeface="Inter"/>
                <a:sym typeface="Inter"/>
              </a:rPr>
              <a:t>Keep a signed-in user recognized: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7986"/>
              </a:lnSpc>
              <a:spcBef>
                <a:spcPts val="0"/>
              </a:spcBef>
              <a:spcAft>
                <a:spcPts val="0"/>
              </a:spcAft>
              <a:buClr>
                <a:srgbClr val="EEF1F3"/>
              </a:buClr>
              <a:buSzPts val="1440"/>
              <a:buFont typeface="Inter"/>
              <a:buNone/>
            </a:pPr>
            <a:r>
              <a:rPr b="0" i="0" lang="en-US" sz="1440" u="none" cap="none" strike="noStrike">
                <a:solidFill>
                  <a:srgbClr val="EEF1F3"/>
                </a:solidFill>
                <a:latin typeface="Inter"/>
                <a:ea typeface="Inter"/>
                <a:cs typeface="Inter"/>
                <a:sym typeface="Inter"/>
              </a:rPr>
              <a:t>session ID in a cookie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458167" y="2790304"/>
            <a:ext cx="3838575" cy="8143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457200" y="2896939"/>
            <a:ext cx="214543" cy="119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B7C9"/>
              </a:buClr>
              <a:buSzPts val="790"/>
              <a:buFont typeface="Arial"/>
              <a:buNone/>
            </a:pPr>
            <a:r>
              <a:rPr b="1" i="0" lang="en-US" sz="790" u="none" cap="none" strike="noStrike">
                <a:solidFill>
                  <a:srgbClr val="A9B7C9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7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724570" y="2889233"/>
            <a:ext cx="3636079" cy="4531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986"/>
              </a:lnSpc>
              <a:spcBef>
                <a:spcPts val="0"/>
              </a:spcBef>
              <a:spcAft>
                <a:spcPts val="0"/>
              </a:spcAft>
              <a:buClr>
                <a:srgbClr val="EEF1F3"/>
              </a:buClr>
              <a:buSzPts val="1440"/>
              <a:buFont typeface="Inter"/>
              <a:buNone/>
            </a:pPr>
            <a:r>
              <a:rPr b="0" i="0" lang="en-US" sz="1440" u="none" cap="none" strike="noStrike">
                <a:solidFill>
                  <a:srgbClr val="EEF1F3"/>
                </a:solidFill>
                <a:latin typeface="Inter"/>
                <a:ea typeface="Inter"/>
                <a:cs typeface="Inter"/>
                <a:sym typeface="Inter"/>
              </a:rPr>
              <a:t>Shopping cart across devices: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7986"/>
              </a:lnSpc>
              <a:spcBef>
                <a:spcPts val="0"/>
              </a:spcBef>
              <a:spcAft>
                <a:spcPts val="0"/>
              </a:spcAft>
              <a:buClr>
                <a:srgbClr val="EEF1F3"/>
              </a:buClr>
              <a:buSzPts val="1440"/>
              <a:buFont typeface="Inter"/>
              <a:buNone/>
            </a:pPr>
            <a:r>
              <a:rPr b="0" i="0" lang="en-US" sz="1440" u="none" cap="none" strike="noStrike">
                <a:solidFill>
                  <a:srgbClr val="EEF1F3"/>
                </a:solidFill>
                <a:latin typeface="Inter"/>
                <a:ea typeface="Inter"/>
                <a:cs typeface="Inter"/>
                <a:sym typeface="Inter"/>
              </a:rPr>
              <a:t>server-backed session or account data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4847258" y="2790304"/>
            <a:ext cx="3838575" cy="8143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/>
          <p:nvPr/>
        </p:nvSpPr>
        <p:spPr>
          <a:xfrm>
            <a:off x="4846290" y="2896939"/>
            <a:ext cx="214543" cy="119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B7C9"/>
              </a:buClr>
              <a:buSzPts val="790"/>
              <a:buFont typeface="Arial"/>
              <a:buNone/>
            </a:pPr>
            <a:r>
              <a:rPr b="1" i="0" lang="en-US" sz="790" u="none" cap="none" strike="noStrike">
                <a:solidFill>
                  <a:srgbClr val="A9B7C9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7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5113660" y="2889233"/>
            <a:ext cx="4265555" cy="687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986"/>
              </a:lnSpc>
              <a:spcBef>
                <a:spcPts val="0"/>
              </a:spcBef>
              <a:spcAft>
                <a:spcPts val="0"/>
              </a:spcAft>
              <a:buClr>
                <a:srgbClr val="EEF1F3"/>
              </a:buClr>
              <a:buSzPts val="1440"/>
              <a:buFont typeface="Inter"/>
              <a:buNone/>
            </a:pPr>
            <a:r>
              <a:rPr b="0" i="0" lang="en-US" sz="1440" u="none" cap="none" strike="noStrike">
                <a:solidFill>
                  <a:srgbClr val="EEF1F3"/>
                </a:solidFill>
                <a:latin typeface="Inter"/>
                <a:ea typeface="Inter"/>
                <a:cs typeface="Inter"/>
                <a:sym typeface="Inter"/>
              </a:rPr>
              <a:t>High-scale stateless APIs: short-lived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7986"/>
              </a:lnSpc>
              <a:spcBef>
                <a:spcPts val="0"/>
              </a:spcBef>
              <a:spcAft>
                <a:spcPts val="0"/>
              </a:spcAft>
              <a:buClr>
                <a:srgbClr val="EEF1F3"/>
              </a:buClr>
              <a:buSzPts val="1440"/>
              <a:buFont typeface="Inter"/>
              <a:buNone/>
            </a:pPr>
            <a:r>
              <a:rPr b="0" i="0" lang="en-US" sz="1440" u="none" cap="none" strike="noStrike">
                <a:solidFill>
                  <a:srgbClr val="EEF1F3"/>
                </a:solidFill>
                <a:latin typeface="Inter"/>
                <a:ea typeface="Inter"/>
                <a:cs typeface="Inter"/>
                <a:sym typeface="Inter"/>
              </a:rPr>
              <a:t>signed token cookie or Authorization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7986"/>
              </a:lnSpc>
              <a:spcBef>
                <a:spcPts val="0"/>
              </a:spcBef>
              <a:spcAft>
                <a:spcPts val="0"/>
              </a:spcAft>
              <a:buClr>
                <a:srgbClr val="EEF1F3"/>
              </a:buClr>
              <a:buSzPts val="1440"/>
              <a:buFont typeface="Inter"/>
              <a:buNone/>
            </a:pPr>
            <a:r>
              <a:rPr b="0" i="0" lang="en-US" sz="1440" u="none" cap="none" strike="noStrike">
                <a:solidFill>
                  <a:srgbClr val="EEF1F3"/>
                </a:solidFill>
                <a:latin typeface="Inter"/>
                <a:ea typeface="Inter"/>
                <a:cs typeface="Inter"/>
                <a:sym typeface="Inter"/>
              </a:rPr>
              <a:t>token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458167" y="3738153"/>
            <a:ext cx="3838575" cy="8143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457200" y="3844751"/>
            <a:ext cx="214543" cy="119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B7C9"/>
              </a:buClr>
              <a:buSzPts val="790"/>
              <a:buFont typeface="Arial"/>
              <a:buNone/>
            </a:pPr>
            <a:r>
              <a:rPr b="1" i="0" lang="en-US" sz="790" u="none" cap="none" strike="noStrike">
                <a:solidFill>
                  <a:srgbClr val="A9B7C9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7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724570" y="3837045"/>
            <a:ext cx="4448681" cy="687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986"/>
              </a:lnSpc>
              <a:spcBef>
                <a:spcPts val="0"/>
              </a:spcBef>
              <a:spcAft>
                <a:spcPts val="0"/>
              </a:spcAft>
              <a:buClr>
                <a:srgbClr val="EEF1F3"/>
              </a:buClr>
              <a:buSzPts val="1440"/>
              <a:buFont typeface="Inter"/>
              <a:buNone/>
            </a:pPr>
            <a:r>
              <a:rPr b="0" i="0" lang="en-US" sz="1440" u="none" cap="none" strike="noStrike">
                <a:solidFill>
                  <a:srgbClr val="EEF1F3"/>
                </a:solidFill>
                <a:latin typeface="Inter"/>
                <a:ea typeface="Inter"/>
                <a:cs typeface="Inter"/>
                <a:sym typeface="Inter"/>
              </a:rPr>
              <a:t>Real-time dashboards: session-backed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7986"/>
              </a:lnSpc>
              <a:spcBef>
                <a:spcPts val="0"/>
              </a:spcBef>
              <a:spcAft>
                <a:spcPts val="0"/>
              </a:spcAft>
              <a:buClr>
                <a:srgbClr val="EEF1F3"/>
              </a:buClr>
              <a:buSzPts val="1440"/>
              <a:buFont typeface="Inter"/>
              <a:buNone/>
            </a:pPr>
            <a:r>
              <a:rPr b="0" i="0" lang="en-US" sz="1440" u="none" cap="none" strike="noStrike">
                <a:solidFill>
                  <a:srgbClr val="EEF1F3"/>
                </a:solidFill>
                <a:latin typeface="Inter"/>
                <a:ea typeface="Inter"/>
                <a:cs typeface="Inter"/>
                <a:sym typeface="Inter"/>
              </a:rPr>
              <a:t>authentication plus WebSocket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7986"/>
              </a:lnSpc>
              <a:spcBef>
                <a:spcPts val="0"/>
              </a:spcBef>
              <a:spcAft>
                <a:spcPts val="0"/>
              </a:spcAft>
              <a:buClr>
                <a:srgbClr val="EEF1F3"/>
              </a:buClr>
              <a:buSzPts val="1440"/>
              <a:buFont typeface="Inter"/>
              <a:buNone/>
            </a:pPr>
            <a:r>
              <a:rPr b="0" i="0" lang="en-US" sz="1440" u="none" cap="none" strike="noStrike">
                <a:solidFill>
                  <a:srgbClr val="EEF1F3"/>
                </a:solidFill>
                <a:latin typeface="Inter"/>
                <a:ea typeface="Inter"/>
                <a:cs typeface="Inter"/>
                <a:sym typeface="Inter"/>
              </a:rPr>
              <a:t>connection checks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4847258" y="3738153"/>
            <a:ext cx="3838575" cy="8143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4846290" y="3844751"/>
            <a:ext cx="214543" cy="119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B7C9"/>
              </a:buClr>
              <a:buSzPts val="790"/>
              <a:buFont typeface="Arial"/>
              <a:buNone/>
            </a:pPr>
            <a:r>
              <a:rPr b="1" i="0" lang="en-US" sz="790" u="none" cap="none" strike="noStrike">
                <a:solidFill>
                  <a:srgbClr val="A9B7C9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7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5113660" y="3837045"/>
            <a:ext cx="4342753" cy="4531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986"/>
              </a:lnSpc>
              <a:spcBef>
                <a:spcPts val="0"/>
              </a:spcBef>
              <a:spcAft>
                <a:spcPts val="0"/>
              </a:spcAft>
              <a:buClr>
                <a:srgbClr val="EEF1F3"/>
              </a:buClr>
              <a:buSzPts val="1440"/>
              <a:buFont typeface="Inter"/>
              <a:buNone/>
            </a:pPr>
            <a:r>
              <a:rPr b="0" i="0" lang="en-US" sz="1440" u="none" cap="none" strike="noStrike">
                <a:solidFill>
                  <a:srgbClr val="EEF1F3"/>
                </a:solidFill>
                <a:latin typeface="Inter"/>
                <a:ea typeface="Inter"/>
                <a:cs typeface="Inter"/>
                <a:sym typeface="Inter"/>
              </a:rPr>
              <a:t>Bottom line: minimize client-held data;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7986"/>
              </a:lnSpc>
              <a:spcBef>
                <a:spcPts val="0"/>
              </a:spcBef>
              <a:spcAft>
                <a:spcPts val="0"/>
              </a:spcAft>
              <a:buClr>
                <a:srgbClr val="EEF1F3"/>
              </a:buClr>
              <a:buSzPts val="1440"/>
              <a:buFont typeface="Inter"/>
              <a:buNone/>
            </a:pPr>
            <a:r>
              <a:rPr b="0" i="0" lang="en-US" sz="1440" u="none" cap="none" strike="noStrike">
                <a:solidFill>
                  <a:srgbClr val="EEF1F3"/>
                </a:solidFill>
                <a:latin typeface="Inter"/>
                <a:ea typeface="Inter"/>
                <a:cs typeface="Inter"/>
                <a:sym typeface="Inter"/>
              </a:rPr>
              <a:t>keep authority server-side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457200" y="4772397"/>
            <a:ext cx="3918555" cy="95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B7C9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A9B7C9"/>
                </a:solidFill>
                <a:latin typeface="Arial"/>
                <a:ea typeface="Arial"/>
                <a:cs typeface="Arial"/>
                <a:sym typeface="Arial"/>
              </a:rPr>
              <a:t>Cookies vs Sessions / Critical analysis for web applications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6" name="Google Shape;13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8167" y="2076227"/>
            <a:ext cx="3838575" cy="581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7" name="Google Shape;13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7258" y="2076227"/>
            <a:ext cx="3838575" cy="581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8" name="Google Shape;13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8167" y="2790304"/>
            <a:ext cx="3838575" cy="8143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9" name="Google Shape;13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47258" y="2790304"/>
            <a:ext cx="3838575" cy="8143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0" name="Google Shape;14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8167" y="3738153"/>
            <a:ext cx="3838575" cy="8143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1" name="Google Shape;14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47258" y="3738153"/>
            <a:ext cx="3838575" cy="8143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2" name="Google Shape;142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0" y="4654116"/>
            <a:ext cx="8229600" cy="233362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7"/>
          <p:cNvSpPr/>
          <p:nvPr/>
        </p:nvSpPr>
        <p:spPr>
          <a:xfrm>
            <a:off x="457200" y="807616"/>
            <a:ext cx="663670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3740"/>
              <a:buFont typeface="Inter"/>
              <a:buNone/>
            </a:pPr>
            <a:r>
              <a:rPr b="1" i="0" lang="en-US" sz="3740" u="none" cap="none" strike="noStrike">
                <a:solidFill>
                  <a:srgbClr val="F7F6F2"/>
                </a:solidFill>
                <a:latin typeface="Inter"/>
                <a:ea typeface="Inter"/>
                <a:cs typeface="Inter"/>
                <a:sym typeface="Inter"/>
              </a:rPr>
              <a:t>Choose by use case, not</a:t>
            </a:r>
            <a:endParaRPr b="0" i="0" sz="37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457200" y="1254547"/>
            <a:ext cx="1455212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3740"/>
              <a:buFont typeface="Inter"/>
              <a:buNone/>
            </a:pPr>
            <a:r>
              <a:rPr b="1" i="0" lang="en-US" sz="3740" u="none" cap="none" strike="noStrike">
                <a:solidFill>
                  <a:srgbClr val="F7F6F2"/>
                </a:solidFill>
                <a:latin typeface="Inter"/>
                <a:ea typeface="Inter"/>
                <a:cs typeface="Inter"/>
                <a:sym typeface="Inter"/>
              </a:rPr>
              <a:t>habit</a:t>
            </a:r>
            <a:endParaRPr b="0" i="0" sz="37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